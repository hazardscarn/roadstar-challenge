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02E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02E"/>
                </a:solidFill>
                <a:latin typeface="Calibri"/>
              </a:rPr>
              <a:t>All 1,326 ON-ON trips, by core load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spPr>
            <a:solidFill>
              <a:srgbClr val="2F6F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Point-to-point
(FTL)</c:v>
                  </c:pt>
                  <c:pt idx="1">
                    <c:v>Empty-pallet
consolidation</c:v>
                  </c:pt>
                  <c:pt idx="2">
                    <c:v>Yard shuttle
(loaded)</c:v>
                  </c:pt>
                  <c:pt idx="3">
                    <c:v>Multi-stop
(LTL)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937</c:v>
                </c:pt>
                <c:pt idx="1">
                  <c:v>136</c:v>
                </c:pt>
                <c:pt idx="2">
                  <c:v>135</c:v>
                </c:pt>
                <c:pt idx="3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02E"/>
                </a:solidFill>
                <a:latin typeface="Calibri"/>
              </a:rPr>
              <a:t>Real truck departures, by hour of day (green window = 6am–8pm)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Legs</c:v>
                </c:pt>
              </c:strCache>
            </c:strRef>
          </c:tx>
          <c:spPr>
            <a:solidFill>
              <a:srgbClr val="C9D3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2F6FA7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C9D3E0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</c:v>
                </c:pt>
                <c:pt idx="1">
                  <c:v>21</c:v>
                </c:pt>
                <c:pt idx="2">
                  <c:v>0</c:v>
                </c:pt>
                <c:pt idx="3">
                  <c:v>32</c:v>
                </c:pt>
                <c:pt idx="4">
                  <c:v>24</c:v>
                </c:pt>
                <c:pt idx="5">
                  <c:v>190</c:v>
                </c:pt>
                <c:pt idx="6">
                  <c:v>124</c:v>
                </c:pt>
                <c:pt idx="7">
                  <c:v>360</c:v>
                </c:pt>
                <c:pt idx="8">
                  <c:v>774</c:v>
                </c:pt>
                <c:pt idx="9">
                  <c:v>267</c:v>
                </c:pt>
                <c:pt idx="10">
                  <c:v>262</c:v>
                </c:pt>
                <c:pt idx="11">
                  <c:v>237</c:v>
                </c:pt>
                <c:pt idx="12">
                  <c:v>310</c:v>
                </c:pt>
                <c:pt idx="13">
                  <c:v>136</c:v>
                </c:pt>
                <c:pt idx="14">
                  <c:v>206</c:v>
                </c:pt>
                <c:pt idx="15">
                  <c:v>91</c:v>
                </c:pt>
                <c:pt idx="16">
                  <c:v>94</c:v>
                </c:pt>
                <c:pt idx="17">
                  <c:v>44</c:v>
                </c:pt>
                <c:pt idx="18">
                  <c:v>11</c:v>
                </c:pt>
                <c:pt idx="19">
                  <c:v>13</c:v>
                </c:pt>
                <c:pt idx="20">
                  <c:v>6</c:v>
                </c:pt>
                <c:pt idx="21">
                  <c:v>18</c:v>
                </c:pt>
                <c:pt idx="22">
                  <c:v>17</c:v>
                </c:pt>
                <c:pt idx="2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02E"/>
                </a:solidFill>
                <a:latin typeface="Calibri"/>
              </a:rPr>
              <a:t>Net revenue (CAD)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(CAD)</c:v>
                </c:pt>
              </c:strCache>
            </c:strRef>
          </c:tx>
          <c:spPr>
            <a:solidFill>
              <a:srgbClr val="9AAA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A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5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REAL</c:v>
                  </c:pt>
                  <c:pt idx="1">
                    <c:v>AI – Mode A</c:v>
                  </c:pt>
                  <c:pt idx="2">
                    <c:v>AI – Mode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117783</c:v>
                </c:pt>
                <c:pt idx="1">
                  <c:v>123901</c:v>
                </c:pt>
                <c:pt idx="2">
                  <c:v>140521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02E"/>
                </a:solidFill>
                <a:latin typeface="Calibri"/>
              </a:rPr>
              <a:t>Deadhead miles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Deadhead miles</c:v>
                </c:pt>
              </c:strCache>
            </c:strRef>
          </c:tx>
          <c:spPr>
            <a:solidFill>
              <a:srgbClr val="9AAA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A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5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8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REAL</c:v>
                  </c:pt>
                  <c:pt idx="1">
                    <c:v>AI – Mode A</c:v>
                  </c:pt>
                  <c:pt idx="2">
                    <c:v>AI – Mode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63528</c:v>
                </c:pt>
                <c:pt idx="1">
                  <c:v>45390</c:v>
                </c:pt>
                <c:pt idx="2">
                  <c:v>49957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141732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1732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41732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727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ONTARIO CITY DISPATCH  ·  ROADSTAR HACKATHON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Own Your Data.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Renting Your Dispatch.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dispatch platform for South-Ontario city freight — built to replace five subscriptions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system a carrier owns.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BATMAN'S BUTLER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6355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Final Demo · September 13,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 by a Thousand Subscriptions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disconnected systems, and what running dispatch on top of them actually costs — both straight from the hackathon brief.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FRAGMENTED STACK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432304"/>
            <a:ext cx="256032" cy="256032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4323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Contract Boards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~$800/mo per device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62656"/>
            <a:ext cx="256032" cy="256032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9626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86207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 / Logbooks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~$600/yr per truck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493008"/>
            <a:ext cx="256032" cy="256032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39242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 / Dispatch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33924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~$50/mo per user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3922776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023360"/>
            <a:ext cx="256032" cy="256032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023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92277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&amp; Rate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86200" y="39227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subscription fees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453128"/>
            <a:ext cx="54406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553712"/>
            <a:ext cx="256032" cy="256032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553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45312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Accounting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6200" y="44531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enterprise setup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48640" y="50566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shares data. None of it is owned.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5508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COSTS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2331720"/>
            <a:ext cx="2615184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01384" y="2478024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$1K–$7K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501384" y="308152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one missed load quote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9134856" y="2331720"/>
            <a:ext cx="2615184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81160" y="2478024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 / day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281160" y="3081528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missed to manual workflow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6355080" y="3813048"/>
            <a:ext cx="2615184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01384" y="395935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~$6,000/day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6501384" y="4562856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opportunity, one desk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9134856" y="3813048"/>
            <a:ext cx="2615184" cy="1353312"/>
          </a:xfrm>
          <a:prstGeom prst="roundRect">
            <a:avLst>
              <a:gd name="adj" fmla="val 675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281160" y="395935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$15K–$50K+/mo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9281160" y="4562856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lost revenue per desk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BEFDA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criterion #1 is literally “Workflow Speed &amp; Financial Value.” Everything from here on is our answer to that number.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Started From Real Data, Not Assumptions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designing a single feature, we mined the hackathon's own operational export — five real tables, one region, real dispatch history.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057400"/>
            <a:ext cx="2295144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5,192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565349"/>
            <a:ext cx="22951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ON-ON dispatch legs analyzed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2057400"/>
            <a:ext cx="2295144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10128" y="2565349"/>
            <a:ext cx="22951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trips, Southern Ontario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1965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61888" y="2057400"/>
            <a:ext cx="2295144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months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61888" y="2565349"/>
            <a:ext cx="229514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June – late August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2862072" cy="1051560"/>
          </a:xfrm>
          <a:prstGeom prst="roundRect">
            <a:avLst>
              <a:gd name="adj" fmla="val 7826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13648" y="2057400"/>
            <a:ext cx="2642616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tables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13648" y="2565349"/>
            <a:ext cx="264261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Tlorder · Dispatch · Driver · Trucks · Trailers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05409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a known export artifact — ~16 exact-duplicate legs (0.3%) found and excluded from every downstream count.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4564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lenses we ran every trip through: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22192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E4E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3822192"/>
            <a:ext cx="33558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/ run type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(8-way classifier)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88536" y="3822192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BEFDA"/>
          </a:solidFill>
          <a:ln/>
        </p:spPr>
      </p:sp>
      <p:sp>
        <p:nvSpPr>
          <p:cNvPr id="22" name="Text 20"/>
          <p:cNvSpPr/>
          <p:nvPr/>
        </p:nvSpPr>
        <p:spPr>
          <a:xfrm>
            <a:off x="4416552" y="3822192"/>
            <a:ext cx="33558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(dwell, dock timing)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28432" y="3822192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E4ECF6"/>
          </a:solidFill>
          <a:ln/>
        </p:spPr>
      </p:sp>
      <p:sp>
        <p:nvSpPr>
          <p:cNvPr id="24" name="Text 22"/>
          <p:cNvSpPr/>
          <p:nvPr/>
        </p:nvSpPr>
        <p:spPr>
          <a:xfrm>
            <a:off x="8156448" y="3822192"/>
            <a:ext cx="33558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(geofence completeness)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BEFD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846320"/>
            <a:ext cx="33558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miles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(empty, no revenue)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88536" y="484632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E4E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416552" y="4846320"/>
            <a:ext cx="33558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cost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a miss is worth)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28432" y="4846320"/>
            <a:ext cx="3611880" cy="896112"/>
          </a:xfrm>
          <a:prstGeom prst="roundRect">
            <a:avLst>
              <a:gd name="adj" fmla="val 9184"/>
            </a:avLst>
          </a:prstGeom>
          <a:solidFill>
            <a:srgbClr val="FBEFDA"/>
          </a:solidFill>
          <a:ln/>
        </p:spPr>
      </p:sp>
      <p:sp>
        <p:nvSpPr>
          <p:cNvPr id="30" name="Text 28"/>
          <p:cNvSpPr/>
          <p:nvPr/>
        </p:nvSpPr>
        <p:spPr>
          <a:xfrm>
            <a:off x="8156448" y="4846320"/>
            <a:ext cx="33558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unlocks deeper analysis)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77900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77900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i="1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on better ML here isn't modeling — it's data. Detailed travel logs, granular fleet telemetry, and historical quote/bid history would sharpen this optimizer further. Closing that gap is exactly what owning this platform buys a carrier.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Shapes, and Where Freight Actually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ON-ON trip resolves to one of four dominant shapes — and the two real hubs aren't where the freight starts.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69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of real trips are single-load FTL — exactly the unit a day-ahead solver assigns.</a:t>
            </a:r>
            <a:endParaRPr lang="en-US" sz="1030" dirty="0"/>
          </a:p>
        </p:txBody>
      </p:sp>
      <p:sp>
        <p:nvSpPr>
          <p:cNvPr id="7" name="Shape 4"/>
          <p:cNvSpPr/>
          <p:nvPr/>
        </p:nvSpPr>
        <p:spPr>
          <a:xfrm>
            <a:off x="6720840" y="1965960"/>
            <a:ext cx="4919472" cy="1234440"/>
          </a:xfrm>
          <a:prstGeom prst="roundRect">
            <a:avLst>
              <a:gd name="adj" fmla="val 6667"/>
            </a:avLst>
          </a:prstGeom>
          <a:solidFill>
            <a:srgbClr val="FBEFDA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run hotter than the fleet average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03720" y="239572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5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deadhead share: 27.3%. At Milton and London — the brief's own “Primary Hubs” — it's far higher.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20840" y="3364992"/>
            <a:ext cx="49194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85432" y="33649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Milton (busiest origin, 2,397 legs)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10287000" y="336499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36.2%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20840" y="3950208"/>
            <a:ext cx="49194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85432" y="395020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10287000" y="395020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50.6%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20840" y="4535424"/>
            <a:ext cx="49194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85432" y="45354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Oshawa (2nd-busiest, 1,508 legs)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10287000" y="453542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720840" y="5166360"/>
            <a:ext cx="4919472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6903720" y="516636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freight demand concentrates in GTA-adjacent cities — Oshawa, Vaughan, Guelph — not at the company's own terminals. A truck parked at a hub is disproportionately likely to deadhead just to reach a load.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Day-Shift Fleet — Not a 24-Hour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dispatch timestamps, not an assumption — and it's the reason the AI dispatcher solves once a day instead of continuously.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hour: 8am, 774 legs — a real morning shift start, not a 24-hour spread.</a:t>
            </a:r>
            <a:endParaRPr lang="en-US" sz="1030" dirty="0"/>
          </a:p>
        </p:txBody>
      </p:sp>
      <p:sp>
        <p:nvSpPr>
          <p:cNvPr id="7" name="Shape 4"/>
          <p:cNvSpPr/>
          <p:nvPr/>
        </p:nvSpPr>
        <p:spPr>
          <a:xfrm>
            <a:off x="7498080" y="1965960"/>
            <a:ext cx="4142232" cy="777240"/>
          </a:xfrm>
          <a:prstGeom prst="roundRect">
            <a:avLst>
              <a:gd name="adj" fmla="val 10588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07808" y="2057400"/>
            <a:ext cx="3922776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89.8%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07808" y="2408987"/>
            <a:ext cx="392277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departures fall between 6am and 7pm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0" y="2880360"/>
            <a:ext cx="4142232" cy="777240"/>
          </a:xfrm>
          <a:prstGeom prst="roundRect">
            <a:avLst>
              <a:gd name="adj" fmla="val 10588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07808" y="2971800"/>
            <a:ext cx="3922776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07808" y="3323387"/>
            <a:ext cx="392277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trips start and finish the same calendar day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0" y="3794760"/>
            <a:ext cx="4142232" cy="777240"/>
          </a:xfrm>
          <a:prstGeom prst="roundRect">
            <a:avLst>
              <a:gd name="adj" fmla="val 10588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07808" y="3886200"/>
            <a:ext cx="3922776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07808" y="4237787"/>
            <a:ext cx="392277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trip length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98080" y="4782312"/>
            <a:ext cx="4142232" cy="1481328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4782312"/>
            <a:ext cx="37764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trucks aren't out overnight — they run a shift and become available again together, in a predictable evening window. That's why the AI dispatcher solves the whole day once, end-of-day — not by re-optimizing continuously.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Problems, Each Grounded in Real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00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00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824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miles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2121408"/>
            <a:ext cx="3355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6,255 no-revenue miles driven right after deliveries in just 2 months (327 legs) — no return load lined up.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88536" y="155448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700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700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16824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billing gaps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16552" y="2121408"/>
            <a:ext cx="3355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 of 2,652 dock events (21%) have no geofence timestamp at all — automatic billing is impossible without one.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28432" y="1554480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6448" y="17007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700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7072" y="16824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revenue, unfilled orders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56448" y="2121408"/>
            <a:ext cx="3355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missed jobs/day at $1K–$7K each — our own live run left 10 of 40 orders unassigned in one day.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" y="34198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401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revenue, low-margin picks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656" y="3840480"/>
            <a:ext cx="3355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time pressure, dispatchers grab the easiest order, not the most profitable one.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88536" y="3273552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16552" y="34198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416552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37176" y="3401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complexity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16552" y="3840480"/>
            <a:ext cx="3355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disjoint systems, manual “check calls,” one truck dragged onto one order at a time.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28432" y="3273552"/>
            <a:ext cx="3611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6448" y="34198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8156448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77072" y="3401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ownership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56448" y="3840480"/>
            <a:ext cx="3355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data lives locked inside vendor systems — without owning it, a carrier can't build custom analytics or train real AI on its own history.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Unified, AI-Native Dispatch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pillars, one Supabase-owned database, zero per-seat software tax.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Load-Matching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CP-SAT solves the whole day's truck × order × driver assignment jointly — not one quote at a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1488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063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Detention Billing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dock arrival/departure timestamps, auto-billed past the free 2-hour window — no manual check calls.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30632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+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Fleet 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411480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OSRM road-network routing, a Supabase backend the carrier owns, real-time telemetry end to end.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· 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Combinatorial, Not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89320" cy="4233672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989320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36776"/>
            <a:ext cx="5989320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9562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5956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59562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0" name="Image 0" descr="/tmp/claude-1000/-home-davidacad10-Documents-github-roadstart-challenge/5d84f758-ff2e-4db3-afa1-04edc9445622/scratchpad/screens/manager_dispatch_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792224"/>
            <a:ext cx="5934456" cy="3922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79729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Dispatch board — 20 trucks, 15 ready trips, 18 drivers, one day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0" y="1508760"/>
            <a:ext cx="4782312" cy="1691640"/>
          </a:xfrm>
          <a:prstGeom prst="roundRect">
            <a:avLst>
              <a:gd name="adj" fmla="val 4865"/>
            </a:avLst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0" y="16276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trucks × 15 orders alone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040880" y="19019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20¹⁵ ≈ 33 quintillion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040880" y="245059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ways to assign orders to trucks — before sequencing stops, before pairing drivers, before a single HOS clock. This is a combinatorial optimization problem, solved with Google OR-Tools CP-SAT.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33832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the solver makes at once: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858000" y="374904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2F6FA7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37490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X[t,o]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order o ride truck 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0" y="420624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2F6FA7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4206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Y[t,d]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4206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driver d drive truck 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466344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2F6FA7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4663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Next[t,i,j]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4663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order j immediately follow order i on truck t's route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858000" y="5193792"/>
            <a:ext cx="4782312" cy="1005840"/>
          </a:xfrm>
          <a:prstGeom prst="roundRect">
            <a:avLst>
              <a:gd name="adj" fmla="val 7273"/>
            </a:avLst>
          </a:prstGeom>
          <a:solidFill>
            <a:srgbClr val="FBEFDA"/>
          </a:solidFill>
          <a:ln/>
        </p:spPr>
      </p:sp>
      <p:sp>
        <p:nvSpPr>
          <p:cNvPr id="27" name="Text 24"/>
          <p:cNvSpPr/>
          <p:nvPr/>
        </p:nvSpPr>
        <p:spPr>
          <a:xfrm>
            <a:off x="7022592" y="519379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as reinforcement learning first — then realized a day is solved once, not trained over millions of episodes. That's constraint satisfaction, not policy learning, so we moved to CP-SAT. (A fully custom, domain-specific solver could likely do even better — scoped, but out of time to build safely.)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· THE REWARD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Scores Every Assignment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maximize:  Σ (order revenue − deadhead cost − lateness penalty) + tiny HOS tie-break − HUGE × unassigned orders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HUGE = 2 × the sum of every order's rate that day — see “unassigned_penalty” below.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E4ECF6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76148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order_revenue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3218688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linehaul rate, earned in full the moment a truck is assigned — however it's sequenced.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4288536" y="2651760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E4ECF6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76148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deadhead_cost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34840" y="3218688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miles × $1.75/mi. Priced from the prior drop-off when chained — not a phantom hub round-trip.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8028432" y="2651760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E4E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76148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lateness_penalty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74736" y="3218688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 × hours-late^1.5, convex. Hard 2h cutoff on chain-link timing — never a wildly-late chain.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BEFD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31596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unassigned_penalty — “never lose an order”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" y="4773168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every order's rate that day. Strictly bigger than all revenue combined — the solver can never profit by dropping a load.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4288536" y="4206240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E4E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431596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HOS_tie_break_bonus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34840" y="4773168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+$0.10 per hour of a driver's own remaining HOS margin — only breaks ties between equal placements.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8028432" y="4206240"/>
            <a:ext cx="3611880" cy="1426464"/>
          </a:xfrm>
          <a:prstGeom prst="roundRect">
            <a:avLst>
              <a:gd name="adj" fmla="val 5769"/>
            </a:avLst>
          </a:prstGeom>
          <a:solidFill>
            <a:srgbClr val="F0F1F3"/>
          </a:solidFill>
          <a:ln/>
        </p:spPr>
      </p:sp>
      <p:sp>
        <p:nvSpPr>
          <p:cNvPr id="23" name="Text 21"/>
          <p:cNvSpPr/>
          <p:nvPr/>
        </p:nvSpPr>
        <p:spPr>
          <a:xfrm>
            <a:off x="8174736" y="4315968"/>
            <a:ext cx="3319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removed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74736" y="4773168"/>
            <a:ext cx="33192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synthesized breakdown-risk term with no real data behind it, and RL-era reward shaping that only makes sense for a trained policy — not a one-shot solve.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· THE BREAKTHROUGH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Constraints, and the Sequencing Breakthrough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— never even offered to the solver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100584" cy="1005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/ capacity match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100584" cy="1005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truck, one driver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00584" cy="1005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9689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4-clock HOS 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100584" cy="1005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80944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hard cutoff on chain-link timing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COSTS — priced in, never impossible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00584" cy="100584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86200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First-leg and chain-leg lateness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25112"/>
            <a:ext cx="100584" cy="100584"/>
          </a:xfrm>
          <a:prstGeom prst="ellipse">
            <a:avLst/>
          </a:prstGeom>
          <a:solidFill>
            <a:srgbClr val="2F6FA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70248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miles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5605272" cy="1325880"/>
          </a:xfrm>
          <a:prstGeom prst="roundRect">
            <a:avLst>
              <a:gd name="adj" fmla="val 5517"/>
            </a:avLst>
          </a:prstGeom>
          <a:solidFill>
            <a:srgbClr val="F0F1F3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89204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that cost the most: every 2nd/3rd order of the day was priced as if the truck left fresh from the hub — not from where it just dropped off. Found from an implausible backtest: revenue worse than reality despite a “provably optimal” solve.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492240" y="14630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SEQUENCING FIX — one real day, 2026-07-14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1828800"/>
            <a:ext cx="51480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58200" y="18836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12680" y="1883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2128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 used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0" y="22128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66960" y="22128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22–24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26883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Single-order trucks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268833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66960" y="268833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75120" y="31638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12480" y="31638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$5,800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66960" y="316382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$8,375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75120" y="36393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miles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0" y="36393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3,920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66960" y="36393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2,568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92240" y="4343400"/>
            <a:ext cx="2487168" cy="1051560"/>
          </a:xfrm>
          <a:prstGeom prst="roundRect">
            <a:avLst>
              <a:gd name="adj" fmla="val 7826"/>
            </a:avLst>
          </a:prstGeom>
          <a:solidFill>
            <a:srgbClr val="E7F4EC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01968" y="4434840"/>
            <a:ext cx="2267712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+44%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601968" y="4942789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revenue, same day, same orders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53144" y="4343400"/>
            <a:ext cx="2487168" cy="1051560"/>
          </a:xfrm>
          <a:prstGeom prst="roundRect">
            <a:avLst>
              <a:gd name="adj" fmla="val 7826"/>
            </a:avLst>
          </a:prstGeom>
          <a:solidFill>
            <a:srgbClr val="E7F4EC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262872" y="4434840"/>
            <a:ext cx="2267712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−34%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262872" y="4942789"/>
            <a:ext cx="226771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miles, same day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92240" y="5532120"/>
            <a:ext cx="5148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subtour-elimination machinery needed — chain links only run forward in time, so the route graph is a DAG by construction.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Real Days: AI vs. the Real Dispatcher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real order book, same real South-Ontario driver roster, July–August 2026 — replayed two ways.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422392" cy="566928"/>
          </a:xfrm>
          <a:prstGeom prst="roundRect">
            <a:avLst>
              <a:gd name="adj" fmla="val 12903"/>
            </a:avLst>
          </a:prstGeom>
          <a:solidFill>
            <a:srgbClr val="F0F1F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051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· STRESS TEST   </a:t>
            </a:r>
            <a:pPr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boxed into REAL's own tiny driver pool that day. Still +5.2% revenue, −28.6% deadhead vs. REAL.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99048" y="1810512"/>
            <a:ext cx="5422392" cy="566928"/>
          </a:xfrm>
          <a:prstGeom prst="roundRect">
            <a:avLst>
              <a:gd name="adj" fmla="val 12903"/>
            </a:avLst>
          </a:prstGeom>
          <a:solidFill>
            <a:srgbClr val="E7F4EC"/>
          </a:solidFill>
          <a:ln/>
        </p:spPr>
      </p:sp>
      <p:sp>
        <p:nvSpPr>
          <p:cNvPr id="8" name="Text 6"/>
          <p:cNvSpPr/>
          <p:nvPr/>
        </p:nvSpPr>
        <p:spPr>
          <a:xfrm>
            <a:off x="6236208" y="1810512"/>
            <a:ext cx="51480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· DEPLOYED   </a:t>
            </a:r>
            <a:pPr indent="0" marL="0">
              <a:buNone/>
            </a:pPr>
            <a:r>
              <a:rPr lang="en-US" sz="1000" dirty="0">
                <a:solidFill>
                  <a:srgbClr val="15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42-driver South-Ontario fleet available every day — exactly how this runs in production.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542032"/>
          <a:ext cx="35661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4251960" y="2542032"/>
          <a:ext cx="35661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001000" y="2542032"/>
            <a:ext cx="3364992" cy="777240"/>
          </a:xfrm>
          <a:prstGeom prst="roundRect">
            <a:avLst>
              <a:gd name="adj" fmla="val 10588"/>
            </a:avLst>
          </a:prstGeom>
          <a:solidFill>
            <a:srgbClr val="E7F4EC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110728" y="2633472"/>
            <a:ext cx="3145536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110728" y="2985059"/>
            <a:ext cx="31455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revenue, Mode B vs. REAL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01000" y="3410712"/>
            <a:ext cx="3364992" cy="777240"/>
          </a:xfrm>
          <a:prstGeom prst="roundRect">
            <a:avLst>
              <a:gd name="adj" fmla="val 10588"/>
            </a:avLst>
          </a:prstGeom>
          <a:solidFill>
            <a:srgbClr val="E7F4EC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110728" y="3502152"/>
            <a:ext cx="3145536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−21%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10728" y="3853739"/>
            <a:ext cx="31455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deadhead miles, Mode B vs. REAL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01000" y="4279392"/>
            <a:ext cx="3364992" cy="777240"/>
          </a:xfrm>
          <a:prstGeom prst="roundRect">
            <a:avLst>
              <a:gd name="adj" fmla="val 10588"/>
            </a:avLst>
          </a:prstGeom>
          <a:solidFill>
            <a:srgbClr val="E7F4EC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110728" y="4370832"/>
            <a:ext cx="3145536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 → 93.5%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110728" y="4722419"/>
            <a:ext cx="31455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rate, REAL → Mode B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30368"/>
          <a:ext cx="11091672" cy="118872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– Mode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– Mode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missed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net revenue /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Geofencing &amp; Automated Detention Billing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20840" cy="4416552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6720840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36776"/>
            <a:ext cx="6720840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9562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5956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59562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0" name="Image 0" descr="/tmp/claude-1000/-home-davidacad10-Documents-github-roadstart-challenge/5d84f758-ff2e-4db3-afa1-04edc9445622/scratchpad/screens/trip_progress_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792224"/>
            <a:ext cx="6665976" cy="4105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980176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lane, run twice at once — normal dock time vs. detention-billed dock time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43800" y="1508760"/>
            <a:ext cx="4096512" cy="914400"/>
          </a:xfrm>
          <a:prstGeom prst="roundRect">
            <a:avLst>
              <a:gd name="adj" fmla="val 9000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53528" y="1600200"/>
            <a:ext cx="387705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549 / 2,652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53528" y="2029968"/>
            <a:ext cx="38770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dock events (21%) had NO geofence timestamp — automatic billing was impossible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43800" y="2514600"/>
            <a:ext cx="4096512" cy="914400"/>
          </a:xfrm>
          <a:prstGeom prst="roundRect">
            <a:avLst>
              <a:gd name="adj" fmla="val 9000"/>
            </a:avLst>
          </a:prstGeom>
          <a:solidFill>
            <a:srgbClr val="E4ECF6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53528" y="2606040"/>
            <a:ext cx="387705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stops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653528" y="3035808"/>
            <a:ext cx="38770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rest ran past the free 2h window — 89 billable hours found, previously unbilled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543800" y="3520440"/>
            <a:ext cx="4096512" cy="914400"/>
          </a:xfrm>
          <a:prstGeom prst="roundRect">
            <a:avLst>
              <a:gd name="adj" fmla="val 9000"/>
            </a:avLst>
          </a:prstGeom>
          <a:solidFill>
            <a:srgbClr val="FBEFDA"/>
          </a:solidFill>
          <a:ln/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53528" y="3611880"/>
            <a:ext cx="3877056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97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$84.16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653528" y="4041648"/>
            <a:ext cx="38770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detention line item, auto-calculated on a live invoice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43800" y="4526280"/>
            <a:ext cx="4096512" cy="566928"/>
          </a:xfrm>
          <a:prstGeom prst="roundRect">
            <a:avLst>
              <a:gd name="adj" fmla="val 11290"/>
            </a:avLst>
          </a:prstGeom>
          <a:solidFill>
            <a:srgbClr val="F0F1F3"/>
          </a:solidFill>
          <a:ln/>
        </p:spPr>
      </p:sp>
      <p:sp>
        <p:nvSpPr>
          <p:cNvPr id="22" name="Text 19"/>
          <p:cNvSpPr/>
          <p:nvPr/>
        </p:nvSpPr>
        <p:spPr>
          <a:xfrm>
            <a:off x="7671816" y="45262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Yard-shuttle legs (same facility, 0 road miles) sit parked for a full shift — not a customer wait. Naively billing them would add 192 more “hours” that aren't real detention; excluded here.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543800" y="5193792"/>
            <a:ext cx="4096512" cy="932688"/>
          </a:xfrm>
          <a:prstGeom prst="roundRect">
            <a:avLst>
              <a:gd name="adj" fmla="val 8824"/>
            </a:avLst>
          </a:prstGeom>
          <a:solidFill>
            <a:srgbClr val="0B1F3A"/>
          </a:solidFill>
          <a:ln/>
        </p:spPr>
      </p:sp>
      <p:sp>
        <p:nvSpPr>
          <p:cNvPr id="24" name="Text 21"/>
          <p:cNvSpPr/>
          <p:nvPr/>
        </p:nvSpPr>
        <p:spPr>
          <a:xfrm>
            <a:off x="7708392" y="5193792"/>
            <a:ext cx="37673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truck crossing a facility geofence writes a real timestamp to Postgres. Detention past 2 hours calculates itself; nothing depends on a dispatcher remembering to log it.</a:t>
            </a:r>
            <a:endParaRPr lang="en-US" sz="1030" dirty="0"/>
          </a:p>
        </p:txBody>
      </p:sp>
      <p:sp>
        <p:nvSpPr>
          <p:cNvPr id="25" name="Text 22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Milestone, Fully Queryable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tab a carrier can point any BI tool or model at — filtered here to one real trip's full driver-state history.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955280" cy="4050792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7955280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11096"/>
            <a:ext cx="7955280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86994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86994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298448" y="186994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1" name="Image 0" descr="/tmp/claude-1000/-home-davidacad10-Documents-github-roadstart-challenge/5d84f758-ff2e-4db3-afa1-04edc9445622/scratchpad/screens/manager_data_tab_driver_snapsh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" y="2066544"/>
            <a:ext cx="7900416" cy="3739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588873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driver_state_snapshots filtered to one trip_id — assigned → arrived → departed → delivered → completed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0" y="1783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REAL TABLES, ALL QUERYABLE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0" y="228600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15" name="Text 12"/>
          <p:cNvSpPr/>
          <p:nvPr/>
        </p:nvSpPr>
        <p:spPr>
          <a:xfrm>
            <a:off x="9235440" y="22860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Runs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144000" y="283464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17" name="Text 14"/>
          <p:cNvSpPr/>
          <p:nvPr/>
        </p:nvSpPr>
        <p:spPr>
          <a:xfrm>
            <a:off x="9235440" y="28346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0" y="33832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19" name="Text 16"/>
          <p:cNvSpPr/>
          <p:nvPr/>
        </p:nvSpPr>
        <p:spPr>
          <a:xfrm>
            <a:off x="923544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Log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44000" y="393192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21" name="Text 18"/>
          <p:cNvSpPr/>
          <p:nvPr/>
        </p:nvSpPr>
        <p:spPr>
          <a:xfrm>
            <a:off x="9235440" y="39319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Events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144000" y="448056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23" name="Text 20"/>
          <p:cNvSpPr/>
          <p:nvPr/>
        </p:nvSpPr>
        <p:spPr>
          <a:xfrm>
            <a:off x="9235440" y="448056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Billing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144000" y="502920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25" name="Text 22"/>
          <p:cNvSpPr/>
          <p:nvPr/>
        </p:nvSpPr>
        <p:spPr>
          <a:xfrm>
            <a:off x="9235440" y="50292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144000" y="557784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ECF6"/>
          </a:solidFill>
          <a:ln/>
        </p:spPr>
      </p:sp>
      <p:sp>
        <p:nvSpPr>
          <p:cNvPr id="27" name="Text 24"/>
          <p:cNvSpPr/>
          <p:nvPr/>
        </p:nvSpPr>
        <p:spPr>
          <a:xfrm>
            <a:off x="9235440" y="55778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State Snapshots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 · THE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Schema, Not a Data Dump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Postgres schemas back every screen in this deck — the day-ahead AI plan, and the full live-ops audit trail.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 ·  day-ahead AI planning (5 tables)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5352" y="1828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 ·  live-ops audit trail (5 table groups)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E4ECF6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23113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service date — draft → finalized.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EDF1F7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944368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day_trucks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(day_id, truck_number)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trucks are available that 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E4ECF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3657600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day_drivers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(day_id, driver_id)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availability + 4 live HOS clocks.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EDF1F7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4370832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day_orders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id · FK day_id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real order book — pickup/dest, weight, rate.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E4E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5084064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(day_id, truck_number)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output: driver + order_ids[] per truck.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2176272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BEFDA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223113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run_id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 the AI's plan is replayed.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2889504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7E7C9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2944368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trip_id · FK run_id, driver_id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trip inside that plan.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5352" y="3602736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BEFDA"/>
          </a:solidFill>
          <a:ln/>
        </p:spPr>
      </p:sp>
      <p:sp>
        <p:nvSpPr>
          <p:cNvPr id="22" name="Text 20"/>
          <p:cNvSpPr/>
          <p:nvPr/>
        </p:nvSpPr>
        <p:spPr>
          <a:xfrm>
            <a:off x="6391656" y="3657600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trip_log · geofence_events · driver_state_snapshots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FK trip_id ×3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Completed-trip metrics, dock timestamps, and HOS at every milestone.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5352" y="4315968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7E7C9"/>
          </a:solidFill>
          <a:ln/>
        </p:spPr>
      </p:sp>
      <p:sp>
        <p:nvSpPr>
          <p:cNvPr id="24" name="Text 22"/>
          <p:cNvSpPr/>
          <p:nvPr/>
        </p:nvSpPr>
        <p:spPr>
          <a:xfrm>
            <a:off x="6391656" y="4370832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detention_billing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(trip_id, location_id)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billable_hours — computed by Postgres itself, past the free 2h window.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45352" y="5029200"/>
            <a:ext cx="5394960" cy="621792"/>
          </a:xfrm>
          <a:prstGeom prst="roundRect">
            <a:avLst>
              <a:gd name="adj" fmla="val 11765"/>
            </a:avLst>
          </a:prstGeom>
          <a:solidFill>
            <a:srgbClr val="FBEFDA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5084064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2F6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PK invoice_id · FK trip_id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Linehaul + detention + tax — totals computed by Postgres itself.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87044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7044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schemas read from the same real fleet data — ground_truth.drivers/trucks/trailers, reference.locations, calibration.truck_profile — plus public.profiles for auth. Nothing here is a copy of the source Excel; it's a designed relational schema a carrier can query, join, and extend on its own.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Simulation &amp; a Fleet Platform You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69087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00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36776"/>
            <a:ext cx="5486400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9562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5956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159562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0" name="Image 0" descr="/tmp/claude-1000/-home-davidacad10-Documents-github-roadstart-challenge/5d84f758-ff2e-4db3-afa1-04edc9445622/scratchpad/screens/manager_live_ops_s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792224"/>
            <a:ext cx="5431536" cy="4379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2544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Live-ops replay — real OSRM routes, real hubs, real order book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63640" y="1508760"/>
            <a:ext cx="5376672" cy="4690872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508760"/>
            <a:ext cx="5376672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63640" y="1636776"/>
            <a:ext cx="5376672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5" name="Shape 12"/>
          <p:cNvSpPr/>
          <p:nvPr/>
        </p:nvSpPr>
        <p:spPr>
          <a:xfrm>
            <a:off x="6373368" y="159562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6" name="Shape 13"/>
          <p:cNvSpPr/>
          <p:nvPr/>
        </p:nvSpPr>
        <p:spPr>
          <a:xfrm>
            <a:off x="6556248" y="15956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Shape 14"/>
          <p:cNvSpPr/>
          <p:nvPr/>
        </p:nvSpPr>
        <p:spPr>
          <a:xfrm>
            <a:off x="6739128" y="159562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8" name="Image 1" descr="/tmp/claude-1000/-home-davidacad10-Documents-github-roadstart-challenge/5d84f758-ff2e-4db3-afa1-04edc9445622/scratchpad/screens/manager_fleet_dashboard_ta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792224"/>
            <a:ext cx="5321808" cy="43799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63640" y="6254496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Per-driver net reward, live — the same score from the reward-engine slide, on real assignments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Driver Side: Accept, Inspect, Drive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third required component — a real driver interface, not just a dispatcher view. Same login, the same real trip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4050792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486400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93976"/>
            <a:ext cx="5486400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05282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20528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05282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1" name="Image 0" descr="/tmp/claude-1000/-home-davidacad10-Documents-github-roadstart-challenge/5d84f758-ff2e-4db3-afa1-04edc9445622/scratchpad/screens/driver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2249424"/>
            <a:ext cx="5431536" cy="3739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60716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Assist — today's 5 real assigned trips, accept load, live duty status (ELD)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63640" y="1965960"/>
            <a:ext cx="5376672" cy="4050792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965960"/>
            <a:ext cx="5376672" cy="256032"/>
          </a:xfrm>
          <a:prstGeom prst="roundRect">
            <a:avLst>
              <a:gd name="adj" fmla="val 21429"/>
            </a:avLst>
          </a:prstGeom>
          <a:solidFill>
            <a:srgbClr val="13294B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2093976"/>
            <a:ext cx="5376672" cy="128016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6" name="Shape 13"/>
          <p:cNvSpPr/>
          <p:nvPr/>
        </p:nvSpPr>
        <p:spPr>
          <a:xfrm>
            <a:off x="6373368" y="2052828"/>
            <a:ext cx="82296" cy="82296"/>
          </a:xfrm>
          <a:prstGeom prst="ellipse">
            <a:avLst/>
          </a:prstGeom>
          <a:solidFill>
            <a:srgbClr val="B23A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56248" y="20528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Shape 15"/>
          <p:cNvSpPr/>
          <p:nvPr/>
        </p:nvSpPr>
        <p:spPr>
          <a:xfrm>
            <a:off x="6739128" y="2052828"/>
            <a:ext cx="82296" cy="82296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9" name="Image 1" descr="/tmp/claude-1000/-home-davidacad10-Documents-github-roadstart-challenge/5d84f758-ff2e-4db3-afa1-04edc9445622/scratchpad/screens/driver_inspe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2249424"/>
            <a:ext cx="5321808" cy="3739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63640" y="6071616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Pre-trip DVIR — pass/fail checklist, logged straight to Postgres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a Hackathon. Priced Like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288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&amp; driver web app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05456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2505456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simulation, dispatch API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18211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182112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day-ahead solver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8587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858768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self-hosted road routing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35424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4535424"/>
            <a:ext cx="2971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data, RLS, live tables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OF OWNERSHIP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5376672" cy="1737360"/>
          </a:xfrm>
          <a:prstGeom prst="roundRect">
            <a:avLst>
              <a:gd name="adj" fmla="val 4737"/>
            </a:avLst>
          </a:prstGeom>
          <a:solidFill>
            <a:srgbClr val="F5E4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fragmented stack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226771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$800/mo load boards + $600/yr/truck ELD + $50/mo/user TMS + quoting fees + a separate maintenance/accounting system — rented forever, none of it owned, none of it customizable.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76672" cy="1737360"/>
          </a:xfrm>
          <a:prstGeom prst="roundRect">
            <a:avLst>
              <a:gd name="adj" fmla="val 4737"/>
            </a:avLst>
          </a:prstGeom>
          <a:solidFill>
            <a:srgbClr val="E7F4E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813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414223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5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Supabase-backed system the carrier owns outright. No per-seat tax, no vendor lock-in, scales with the fleet, customizable because it's yours — built in one hackathon.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263640" y="5623560"/>
            <a:ext cx="5376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hackathon's own ask, answered: intelligent dispatch dashboards, built rapidly and affordably, in the AI revolution.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471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BATMAN'S BUTLER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547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5156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5156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05156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Owned Data. Real Revenue.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94360" y="343814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Load-Matching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revenue, −21% deadhead — 46 real days, full deployed fleet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94106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Billing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past 2h — no manual check calls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4439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+ Supabase — no per-seat software tax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BATMAN'S BUTLER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 this deck.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92024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92024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1920240"/>
            <a:ext cx="292608" cy="4114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3154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feedback, or want to help build this further? Always happy to chat.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6583680" cy="1371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041648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3159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github.com/hazardscarn/roadstar-challenge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73659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50109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davidacad10@gmail.com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BATMAN'S BUTLER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55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RoadStar Hackathon 2026 · Southern Ontario City Dispatch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2026-09-13T12:30:10Z</dcterms:created>
  <dcterms:modified xsi:type="dcterms:W3CDTF">2026-09-13T12:30:10Z</dcterms:modified>
</cp:coreProperties>
</file>